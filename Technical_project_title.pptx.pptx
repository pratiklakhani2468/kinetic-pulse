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753600" cy="7315200"/>
  <p:notesSz cx="97536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05721" y="653656"/>
            <a:ext cx="4377204" cy="701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753599" cy="7315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2361" y="619231"/>
            <a:ext cx="3669362" cy="9472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21934" y="1972309"/>
            <a:ext cx="5506084" cy="4499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86725" y="6821968"/>
            <a:ext cx="2776220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80932" y="6907693"/>
            <a:ext cx="9779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155532" y="6907693"/>
            <a:ext cx="16129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6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0607" y="1647090"/>
            <a:ext cx="5588635" cy="1191895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Title</a:t>
            </a:r>
            <a:r>
              <a:rPr dirty="0" spc="50"/>
              <a:t> </a:t>
            </a:r>
            <a:r>
              <a:rPr dirty="0"/>
              <a:t>Approval</a:t>
            </a:r>
            <a:r>
              <a:rPr dirty="0" spc="50"/>
              <a:t> </a:t>
            </a:r>
            <a:r>
              <a:rPr dirty="0" spc="-10"/>
              <a:t>Presentation</a:t>
            </a:r>
          </a:p>
          <a:p>
            <a:pPr marL="1271270">
              <a:lnSpc>
                <a:spcPct val="100000"/>
              </a:lnSpc>
              <a:spcBef>
                <a:spcPts val="15"/>
              </a:spcBef>
            </a:pPr>
            <a:r>
              <a:rPr dirty="0"/>
              <a:t>A.Y.</a:t>
            </a:r>
            <a:r>
              <a:rPr dirty="0" spc="114"/>
              <a:t> </a:t>
            </a:r>
            <a:r>
              <a:rPr dirty="0"/>
              <a:t>2025-</a:t>
            </a:r>
            <a:r>
              <a:rPr dirty="0" spc="-20"/>
              <a:t>2026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6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07044" y="2809140"/>
            <a:ext cx="5925820" cy="3631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2840" marR="5080" indent="410845">
              <a:lnSpc>
                <a:spcPct val="100299"/>
              </a:lnSpc>
              <a:spcBef>
                <a:spcPts val="125"/>
              </a:spcBef>
            </a:pPr>
            <a:r>
              <a:rPr dirty="0" sz="3800" b="1">
                <a:latin typeface="Calibri"/>
                <a:cs typeface="Calibri"/>
              </a:rPr>
              <a:t>Project</a:t>
            </a:r>
            <a:r>
              <a:rPr dirty="0" sz="3800" spc="55" b="1">
                <a:latin typeface="Calibri"/>
                <a:cs typeface="Calibri"/>
              </a:rPr>
              <a:t> </a:t>
            </a:r>
            <a:r>
              <a:rPr dirty="0" sz="3800" spc="-10" b="1">
                <a:latin typeface="Calibri"/>
                <a:cs typeface="Calibri"/>
              </a:rPr>
              <a:t>Title:</a:t>
            </a:r>
            <a:r>
              <a:rPr dirty="0" sz="3800" spc="950" b="1">
                <a:latin typeface="Calibri"/>
                <a:cs typeface="Calibri"/>
              </a:rPr>
              <a:t> </a:t>
            </a:r>
            <a:r>
              <a:rPr dirty="0" sz="3800" b="1">
                <a:latin typeface="Calibri"/>
                <a:cs typeface="Calibri"/>
              </a:rPr>
              <a:t>AI</a:t>
            </a:r>
            <a:r>
              <a:rPr dirty="0" sz="3800" spc="45" b="1">
                <a:latin typeface="Calibri"/>
                <a:cs typeface="Calibri"/>
              </a:rPr>
              <a:t> </a:t>
            </a:r>
            <a:r>
              <a:rPr dirty="0" sz="3800" b="1">
                <a:latin typeface="Calibri"/>
                <a:cs typeface="Calibri"/>
              </a:rPr>
              <a:t>Fitness</a:t>
            </a:r>
            <a:r>
              <a:rPr dirty="0" sz="3800" spc="45" b="1">
                <a:latin typeface="Calibri"/>
                <a:cs typeface="Calibri"/>
              </a:rPr>
              <a:t> </a:t>
            </a:r>
            <a:r>
              <a:rPr dirty="0" sz="3800" spc="-10" b="1">
                <a:latin typeface="Calibri"/>
                <a:cs typeface="Calibri"/>
              </a:rPr>
              <a:t>Trainer</a:t>
            </a:r>
            <a:endParaRPr sz="3800">
              <a:latin typeface="Calibri"/>
              <a:cs typeface="Calibri"/>
            </a:endParaRPr>
          </a:p>
          <a:p>
            <a:pPr marL="12700" marR="3310254">
              <a:lnSpc>
                <a:spcPts val="3000"/>
              </a:lnSpc>
              <a:spcBef>
                <a:spcPts val="1305"/>
              </a:spcBef>
            </a:pPr>
            <a:r>
              <a:rPr dirty="0" sz="2550">
                <a:latin typeface="Calibri"/>
                <a:cs typeface="Calibri"/>
              </a:rPr>
              <a:t>Presented</a:t>
            </a:r>
            <a:r>
              <a:rPr dirty="0" sz="2550" spc="-4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by</a:t>
            </a:r>
            <a:r>
              <a:rPr dirty="0" sz="2550" spc="-40">
                <a:latin typeface="Calibri"/>
                <a:cs typeface="Calibri"/>
              </a:rPr>
              <a:t> </a:t>
            </a:r>
            <a:r>
              <a:rPr dirty="0" sz="2550" spc="-50">
                <a:latin typeface="Calibri"/>
                <a:cs typeface="Calibri"/>
              </a:rPr>
              <a:t>: </a:t>
            </a:r>
            <a:r>
              <a:rPr dirty="0" sz="2550">
                <a:latin typeface="Calibri"/>
                <a:cs typeface="Calibri"/>
              </a:rPr>
              <a:t>Pratik</a:t>
            </a:r>
            <a:r>
              <a:rPr dirty="0" sz="2550" spc="-3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Lakhani</a:t>
            </a:r>
            <a:r>
              <a:rPr dirty="0" sz="2550" spc="-35">
                <a:latin typeface="Calibri"/>
                <a:cs typeface="Calibri"/>
              </a:rPr>
              <a:t> </a:t>
            </a:r>
            <a:r>
              <a:rPr dirty="0" sz="2550" spc="-20">
                <a:latin typeface="Calibri"/>
                <a:cs typeface="Calibri"/>
              </a:rPr>
              <a:t>C060 </a:t>
            </a:r>
            <a:r>
              <a:rPr dirty="0" sz="2550">
                <a:latin typeface="Calibri"/>
                <a:cs typeface="Calibri"/>
              </a:rPr>
              <a:t>Priyaan</a:t>
            </a:r>
            <a:r>
              <a:rPr dirty="0" sz="2550" spc="-3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Gala</a:t>
            </a:r>
            <a:r>
              <a:rPr dirty="0" sz="2550" spc="-30">
                <a:latin typeface="Calibri"/>
                <a:cs typeface="Calibri"/>
              </a:rPr>
              <a:t> </a:t>
            </a:r>
            <a:r>
              <a:rPr dirty="0" sz="2550" spc="-20">
                <a:latin typeface="Calibri"/>
                <a:cs typeface="Calibri"/>
              </a:rPr>
              <a:t>C051</a:t>
            </a:r>
            <a:endParaRPr sz="2550">
              <a:latin typeface="Calibri"/>
              <a:cs typeface="Calibri"/>
            </a:endParaRPr>
          </a:p>
          <a:p>
            <a:pPr marL="12700" marR="2792095">
              <a:lnSpc>
                <a:spcPts val="3000"/>
              </a:lnSpc>
              <a:spcBef>
                <a:spcPts val="3000"/>
              </a:spcBef>
            </a:pPr>
            <a:r>
              <a:rPr dirty="0" sz="2550">
                <a:latin typeface="Calibri"/>
                <a:cs typeface="Calibri"/>
              </a:rPr>
              <a:t>Under</a:t>
            </a:r>
            <a:r>
              <a:rPr dirty="0" sz="2550" spc="-3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the</a:t>
            </a:r>
            <a:r>
              <a:rPr dirty="0" sz="2550" spc="-3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guidance</a:t>
            </a:r>
            <a:r>
              <a:rPr dirty="0" sz="2550" spc="-3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of</a:t>
            </a:r>
            <a:r>
              <a:rPr dirty="0" sz="2550" spc="-25">
                <a:latin typeface="Calibri"/>
                <a:cs typeface="Calibri"/>
              </a:rPr>
              <a:t> </a:t>
            </a:r>
            <a:r>
              <a:rPr dirty="0" sz="2550" spc="-50">
                <a:latin typeface="Calibri"/>
                <a:cs typeface="Calibri"/>
              </a:rPr>
              <a:t>: </a:t>
            </a:r>
            <a:r>
              <a:rPr dirty="0" sz="2550">
                <a:latin typeface="Calibri"/>
                <a:cs typeface="Calibri"/>
              </a:rPr>
              <a:t>Jesleena</a:t>
            </a:r>
            <a:r>
              <a:rPr dirty="0" sz="2550" spc="-8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Gonsalves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3754" rIns="0" bIns="0" rtlCol="0" vert="horz">
            <a:spAutoFit/>
          </a:bodyPr>
          <a:lstStyle/>
          <a:p>
            <a:pPr marL="46482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Introduction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00383" y="731520"/>
            <a:ext cx="7953375" cy="6583680"/>
            <a:chOff x="900383" y="731520"/>
            <a:chExt cx="7953375" cy="65836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0383" y="731520"/>
              <a:ext cx="7953374" cy="658367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181258" y="6779398"/>
              <a:ext cx="1569085" cy="389890"/>
            </a:xfrm>
            <a:custGeom>
              <a:avLst/>
              <a:gdLst/>
              <a:ahLst/>
              <a:cxnLst/>
              <a:rect l="l" t="t" r="r" b="b"/>
              <a:pathLst>
                <a:path w="1569084" h="389890">
                  <a:moveTo>
                    <a:pt x="1568520" y="389467"/>
                  </a:moveTo>
                  <a:lnTo>
                    <a:pt x="0" y="389467"/>
                  </a:lnTo>
                  <a:lnTo>
                    <a:pt x="0" y="0"/>
                  </a:lnTo>
                  <a:lnTo>
                    <a:pt x="1568520" y="0"/>
                  </a:lnTo>
                  <a:lnTo>
                    <a:pt x="1568520" y="389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81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Problem</a:t>
            </a:r>
            <a:r>
              <a:rPr dirty="0" spc="75"/>
              <a:t> </a:t>
            </a:r>
            <a:r>
              <a:rPr dirty="0" spc="-10"/>
              <a:t>statement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739" y="1761895"/>
            <a:ext cx="8629649" cy="555330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8720" y="1539541"/>
            <a:ext cx="2393950" cy="415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>
                <a:latin typeface="Calibri"/>
                <a:cs typeface="Calibri"/>
              </a:rPr>
              <a:t>Why</a:t>
            </a:r>
            <a:r>
              <a:rPr dirty="0" sz="2550" spc="-2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we</a:t>
            </a:r>
            <a:r>
              <a:rPr dirty="0" sz="2550" spc="-2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need</a:t>
            </a:r>
            <a:r>
              <a:rPr dirty="0" sz="2550" spc="-20">
                <a:latin typeface="Calibri"/>
                <a:cs typeface="Calibri"/>
              </a:rPr>
              <a:t> this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2537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140"/>
              </a:spcBef>
            </a:pPr>
            <a:r>
              <a:rPr dirty="0"/>
              <a:t>Aim</a:t>
            </a:r>
            <a:r>
              <a:rPr dirty="0" spc="40"/>
              <a:t> </a:t>
            </a:r>
            <a:r>
              <a:rPr dirty="0"/>
              <a:t>&amp;</a:t>
            </a:r>
            <a:r>
              <a:rPr dirty="0" spc="40"/>
              <a:t> </a:t>
            </a:r>
            <a:r>
              <a:rPr dirty="0" spc="-10"/>
              <a:t>Objectives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4861" y="1930080"/>
            <a:ext cx="9497695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94735" marR="5080" indent="-3582670">
              <a:lnSpc>
                <a:spcPct val="116300"/>
              </a:lnSpc>
              <a:spcBef>
                <a:spcPts val="95"/>
              </a:spcBef>
            </a:pPr>
            <a:r>
              <a:rPr dirty="0" sz="2150" spc="-145">
                <a:latin typeface="Arial Black"/>
                <a:cs typeface="Arial Black"/>
              </a:rPr>
              <a:t>Project</a:t>
            </a:r>
            <a:r>
              <a:rPr dirty="0" sz="2150" spc="-160">
                <a:latin typeface="Arial Black"/>
                <a:cs typeface="Arial Black"/>
              </a:rPr>
              <a:t> </a:t>
            </a:r>
            <a:r>
              <a:rPr dirty="0" sz="2150" spc="-155">
                <a:latin typeface="Arial Black"/>
                <a:cs typeface="Arial Black"/>
              </a:rPr>
              <a:t>Aim</a:t>
            </a:r>
            <a:r>
              <a:rPr dirty="0" sz="2150" spc="-165">
                <a:latin typeface="Arial Black"/>
                <a:cs typeface="Arial Black"/>
              </a:rPr>
              <a:t> </a:t>
            </a:r>
            <a:r>
              <a:rPr dirty="0" sz="2150" spc="-80">
                <a:latin typeface="Arial Black"/>
                <a:cs typeface="Arial Black"/>
              </a:rPr>
              <a:t>AI-</a:t>
            </a:r>
            <a:r>
              <a:rPr dirty="0" sz="2150" spc="-160">
                <a:latin typeface="Arial Black"/>
                <a:cs typeface="Arial Black"/>
              </a:rPr>
              <a:t>powered</a:t>
            </a:r>
            <a:r>
              <a:rPr dirty="0" sz="2150" spc="-165">
                <a:latin typeface="Arial Black"/>
                <a:cs typeface="Arial Black"/>
              </a:rPr>
              <a:t> </a:t>
            </a:r>
            <a:r>
              <a:rPr dirty="0" sz="2150" spc="-145">
                <a:latin typeface="Arial Black"/>
                <a:cs typeface="Arial Black"/>
              </a:rPr>
              <a:t>fitness</a:t>
            </a:r>
            <a:r>
              <a:rPr dirty="0" sz="2150" spc="-160">
                <a:latin typeface="Arial Black"/>
                <a:cs typeface="Arial Black"/>
              </a:rPr>
              <a:t> </a:t>
            </a:r>
            <a:r>
              <a:rPr dirty="0" sz="2150" spc="-130">
                <a:latin typeface="Arial Black"/>
                <a:cs typeface="Arial Black"/>
              </a:rPr>
              <a:t>training</a:t>
            </a:r>
            <a:r>
              <a:rPr dirty="0" sz="2150" spc="-165">
                <a:latin typeface="Arial Black"/>
                <a:cs typeface="Arial Black"/>
              </a:rPr>
              <a:t> </a:t>
            </a:r>
            <a:r>
              <a:rPr dirty="0" sz="2150" spc="-155">
                <a:latin typeface="Arial Black"/>
                <a:cs typeface="Arial Black"/>
              </a:rPr>
              <a:t>with</a:t>
            </a:r>
            <a:r>
              <a:rPr dirty="0" sz="2150" spc="-165">
                <a:latin typeface="Arial Black"/>
                <a:cs typeface="Arial Black"/>
              </a:rPr>
              <a:t> </a:t>
            </a:r>
            <a:r>
              <a:rPr dirty="0" sz="2150" spc="-100">
                <a:latin typeface="Arial Black"/>
                <a:cs typeface="Arial Black"/>
              </a:rPr>
              <a:t>real-</a:t>
            </a:r>
            <a:r>
              <a:rPr dirty="0" sz="2150" spc="-135">
                <a:latin typeface="Arial Black"/>
                <a:cs typeface="Arial Black"/>
              </a:rPr>
              <a:t>time</a:t>
            </a:r>
            <a:r>
              <a:rPr dirty="0" sz="2150" spc="-160">
                <a:latin typeface="Arial Black"/>
                <a:cs typeface="Arial Black"/>
              </a:rPr>
              <a:t> </a:t>
            </a:r>
            <a:r>
              <a:rPr dirty="0" sz="2150" spc="-229">
                <a:latin typeface="Arial Black"/>
                <a:cs typeface="Arial Black"/>
              </a:rPr>
              <a:t>AR</a:t>
            </a:r>
            <a:r>
              <a:rPr dirty="0" sz="2150" spc="-165">
                <a:latin typeface="Arial Black"/>
                <a:cs typeface="Arial Black"/>
              </a:rPr>
              <a:t> </a:t>
            </a:r>
            <a:r>
              <a:rPr dirty="0" sz="2150" spc="-170">
                <a:latin typeface="Arial Black"/>
                <a:cs typeface="Arial Black"/>
              </a:rPr>
              <a:t>feedback</a:t>
            </a:r>
            <a:r>
              <a:rPr dirty="0" sz="2150" spc="-165">
                <a:latin typeface="Arial Black"/>
                <a:cs typeface="Arial Black"/>
              </a:rPr>
              <a:t> </a:t>
            </a:r>
            <a:r>
              <a:rPr dirty="0" sz="2150" spc="-25">
                <a:latin typeface="Arial Black"/>
                <a:cs typeface="Arial Black"/>
              </a:rPr>
              <a:t>and </a:t>
            </a:r>
            <a:r>
              <a:rPr dirty="0" sz="2150" spc="-170">
                <a:latin typeface="Arial Black"/>
                <a:cs typeface="Arial Black"/>
              </a:rPr>
              <a:t>social </a:t>
            </a:r>
            <a:r>
              <a:rPr dirty="0" sz="2150" spc="-10">
                <a:latin typeface="Arial Black"/>
                <a:cs typeface="Arial Black"/>
              </a:rPr>
              <a:t>motivation</a:t>
            </a:r>
            <a:endParaRPr sz="215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1397" y="3630358"/>
            <a:ext cx="274383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305">
                <a:latin typeface="Arial Black"/>
                <a:cs typeface="Arial Black"/>
              </a:rPr>
              <a:t>Key</a:t>
            </a:r>
            <a:r>
              <a:rPr dirty="0" sz="2900" spc="-285">
                <a:latin typeface="Arial Black"/>
                <a:cs typeface="Arial Black"/>
              </a:rPr>
              <a:t> </a:t>
            </a:r>
            <a:r>
              <a:rPr dirty="0" sz="2900" spc="-175">
                <a:latin typeface="Arial Black"/>
                <a:cs typeface="Arial Black"/>
              </a:rPr>
              <a:t>objectives: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6598" y="4748036"/>
            <a:ext cx="4758690" cy="183578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ctr" marR="53975">
              <a:lnSpc>
                <a:spcPct val="100000"/>
              </a:lnSpc>
              <a:spcBef>
                <a:spcPts val="490"/>
              </a:spcBef>
            </a:pPr>
            <a:r>
              <a:rPr dirty="0" sz="2050" spc="-80">
                <a:latin typeface="Arial Black"/>
                <a:cs typeface="Arial Black"/>
              </a:rPr>
              <a:t>Technical:</a:t>
            </a:r>
            <a:endParaRPr sz="205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dirty="0" sz="2050" spc="95">
                <a:latin typeface="Arial Black"/>
                <a:cs typeface="Arial Black"/>
              </a:rPr>
              <a:t>-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225">
                <a:latin typeface="Arial Black"/>
                <a:cs typeface="Arial Black"/>
              </a:rPr>
              <a:t>85%+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150">
                <a:latin typeface="Arial Black"/>
                <a:cs typeface="Arial Black"/>
              </a:rPr>
              <a:t>pose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130">
                <a:latin typeface="Arial Black"/>
                <a:cs typeface="Arial Black"/>
              </a:rPr>
              <a:t>detection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35">
                <a:latin typeface="Arial Black"/>
                <a:cs typeface="Arial Black"/>
              </a:rPr>
              <a:t>accuracy</a:t>
            </a:r>
            <a:endParaRPr sz="205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dirty="0" sz="2050" spc="95">
                <a:latin typeface="Arial Black"/>
                <a:cs typeface="Arial Black"/>
              </a:rPr>
              <a:t>-</a:t>
            </a:r>
            <a:r>
              <a:rPr dirty="0" sz="2050" spc="-170">
                <a:latin typeface="Arial Black"/>
                <a:cs typeface="Arial Black"/>
              </a:rPr>
              <a:t> </a:t>
            </a:r>
            <a:r>
              <a:rPr dirty="0" sz="2050" spc="-150">
                <a:latin typeface="Arial Black"/>
                <a:cs typeface="Arial Black"/>
              </a:rPr>
              <a:t>15-</a:t>
            </a:r>
            <a:r>
              <a:rPr dirty="0" sz="2050" spc="-100">
                <a:latin typeface="Arial Black"/>
                <a:cs typeface="Arial Black"/>
              </a:rPr>
              <a:t>20</a:t>
            </a:r>
            <a:r>
              <a:rPr dirty="0" sz="2050" spc="-165">
                <a:latin typeface="Arial Black"/>
                <a:cs typeface="Arial Black"/>
              </a:rPr>
              <a:t> </a:t>
            </a:r>
            <a:r>
              <a:rPr dirty="0" sz="2050" spc="-210">
                <a:latin typeface="Arial Black"/>
                <a:cs typeface="Arial Black"/>
              </a:rPr>
              <a:t>exercises</a:t>
            </a:r>
            <a:r>
              <a:rPr dirty="0" sz="2050" spc="-165">
                <a:latin typeface="Arial Black"/>
                <a:cs typeface="Arial Black"/>
              </a:rPr>
              <a:t> </a:t>
            </a:r>
            <a:r>
              <a:rPr dirty="0" sz="2050" spc="-155">
                <a:latin typeface="Arial Black"/>
                <a:cs typeface="Arial Black"/>
              </a:rPr>
              <a:t>with</a:t>
            </a:r>
            <a:r>
              <a:rPr dirty="0" sz="2050" spc="-165">
                <a:latin typeface="Arial Black"/>
                <a:cs typeface="Arial Black"/>
              </a:rPr>
              <a:t> </a:t>
            </a:r>
            <a:r>
              <a:rPr dirty="0" sz="2050" spc="-95">
                <a:latin typeface="Arial Black"/>
                <a:cs typeface="Arial Black"/>
              </a:rPr>
              <a:t>form</a:t>
            </a:r>
            <a:r>
              <a:rPr dirty="0" sz="2050" spc="-165">
                <a:latin typeface="Arial Black"/>
                <a:cs typeface="Arial Black"/>
              </a:rPr>
              <a:t> </a:t>
            </a:r>
            <a:r>
              <a:rPr dirty="0" sz="2050" spc="-10">
                <a:latin typeface="Arial Black"/>
                <a:cs typeface="Arial Black"/>
              </a:rPr>
              <a:t>analysis</a:t>
            </a:r>
            <a:endParaRPr sz="2050">
              <a:latin typeface="Arial Black"/>
              <a:cs typeface="Arial Black"/>
            </a:endParaRPr>
          </a:p>
          <a:p>
            <a:pPr algn="ctr" marL="12065" marR="5080">
              <a:lnSpc>
                <a:spcPct val="115900"/>
              </a:lnSpc>
            </a:pPr>
            <a:r>
              <a:rPr dirty="0" sz="2050" spc="95">
                <a:latin typeface="Arial Black"/>
                <a:cs typeface="Arial Black"/>
              </a:rPr>
              <a:t>-</a:t>
            </a:r>
            <a:r>
              <a:rPr dirty="0" sz="2050" spc="-180">
                <a:latin typeface="Arial Black"/>
                <a:cs typeface="Arial Black"/>
              </a:rPr>
              <a:t> </a:t>
            </a:r>
            <a:r>
              <a:rPr dirty="0" sz="2050" spc="-150">
                <a:latin typeface="Arial Black"/>
                <a:cs typeface="Arial Black"/>
              </a:rPr>
              <a:t>Live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145">
                <a:latin typeface="Arial Black"/>
                <a:cs typeface="Arial Black"/>
              </a:rPr>
              <a:t>rooms</a:t>
            </a:r>
            <a:r>
              <a:rPr dirty="0" sz="2050" spc="-180">
                <a:latin typeface="Arial Black"/>
                <a:cs typeface="Arial Black"/>
              </a:rPr>
              <a:t> </a:t>
            </a:r>
            <a:r>
              <a:rPr dirty="0" sz="2050" spc="-40">
                <a:latin typeface="Arial Black"/>
                <a:cs typeface="Arial Black"/>
              </a:rPr>
              <a:t>(4-</a:t>
            </a:r>
            <a:r>
              <a:rPr dirty="0" sz="2050" spc="-50">
                <a:latin typeface="Arial Black"/>
                <a:cs typeface="Arial Black"/>
              </a:rPr>
              <a:t>6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160">
                <a:latin typeface="Arial Black"/>
                <a:cs typeface="Arial Black"/>
              </a:rPr>
              <a:t>users)</a:t>
            </a:r>
            <a:r>
              <a:rPr dirty="0" sz="2050" spc="-180">
                <a:latin typeface="Arial Black"/>
                <a:cs typeface="Arial Black"/>
              </a:rPr>
              <a:t> </a:t>
            </a:r>
            <a:r>
              <a:rPr dirty="0" sz="2050" spc="95">
                <a:latin typeface="Arial Black"/>
                <a:cs typeface="Arial Black"/>
              </a:rPr>
              <a:t>-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150">
                <a:latin typeface="Arial Black"/>
                <a:cs typeface="Arial Black"/>
              </a:rPr>
              <a:t>Ghost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55">
                <a:latin typeface="Arial Black"/>
                <a:cs typeface="Arial Black"/>
              </a:rPr>
              <a:t>mode </a:t>
            </a:r>
            <a:r>
              <a:rPr dirty="0" sz="2050" spc="-40">
                <a:latin typeface="Arial Black"/>
                <a:cs typeface="Arial Black"/>
              </a:rPr>
              <a:t>comparison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63877" y="4748036"/>
            <a:ext cx="3032760" cy="183578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ctr" marR="50800">
              <a:lnSpc>
                <a:spcPct val="100000"/>
              </a:lnSpc>
              <a:spcBef>
                <a:spcPts val="490"/>
              </a:spcBef>
            </a:pPr>
            <a:r>
              <a:rPr dirty="0" sz="2050" spc="-35">
                <a:latin typeface="Arial Black"/>
                <a:cs typeface="Arial Black"/>
              </a:rPr>
              <a:t>Learning:</a:t>
            </a:r>
            <a:endParaRPr sz="2050">
              <a:latin typeface="Arial Black"/>
              <a:cs typeface="Arial Black"/>
            </a:endParaRPr>
          </a:p>
          <a:p>
            <a:pPr algn="ctr" marR="50800">
              <a:lnSpc>
                <a:spcPct val="100000"/>
              </a:lnSpc>
              <a:spcBef>
                <a:spcPts val="390"/>
              </a:spcBef>
            </a:pPr>
            <a:r>
              <a:rPr dirty="0" sz="2050" spc="95">
                <a:latin typeface="Arial Black"/>
                <a:cs typeface="Arial Black"/>
              </a:rPr>
              <a:t>-</a:t>
            </a:r>
            <a:r>
              <a:rPr dirty="0" sz="2050" spc="-180">
                <a:latin typeface="Arial Black"/>
                <a:cs typeface="Arial Black"/>
              </a:rPr>
              <a:t> </a:t>
            </a:r>
            <a:r>
              <a:rPr dirty="0" sz="2050" spc="-125">
                <a:latin typeface="Arial Black"/>
                <a:cs typeface="Arial Black"/>
              </a:rPr>
              <a:t>Computer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125">
                <a:latin typeface="Arial Black"/>
                <a:cs typeface="Arial Black"/>
              </a:rPr>
              <a:t>vision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475">
                <a:latin typeface="Arial Black"/>
                <a:cs typeface="Arial Black"/>
              </a:rPr>
              <a:t>&amp;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25">
                <a:latin typeface="Arial Black"/>
                <a:cs typeface="Arial Black"/>
              </a:rPr>
              <a:t>ML</a:t>
            </a:r>
            <a:endParaRPr sz="2050">
              <a:latin typeface="Arial Black"/>
              <a:cs typeface="Arial Black"/>
            </a:endParaRPr>
          </a:p>
          <a:p>
            <a:pPr algn="ctr" marR="50800">
              <a:lnSpc>
                <a:spcPct val="100000"/>
              </a:lnSpc>
              <a:spcBef>
                <a:spcPts val="390"/>
              </a:spcBef>
            </a:pPr>
            <a:r>
              <a:rPr dirty="0" sz="2050" spc="95">
                <a:latin typeface="Arial Black"/>
                <a:cs typeface="Arial Black"/>
              </a:rPr>
              <a:t>-</a:t>
            </a:r>
            <a:r>
              <a:rPr dirty="0" sz="2050" spc="-200">
                <a:latin typeface="Arial Black"/>
                <a:cs typeface="Arial Black"/>
              </a:rPr>
              <a:t> </a:t>
            </a:r>
            <a:r>
              <a:rPr dirty="0" sz="2050" spc="-225">
                <a:latin typeface="Arial Black"/>
                <a:cs typeface="Arial Black"/>
              </a:rPr>
              <a:t>AR</a:t>
            </a:r>
            <a:r>
              <a:rPr dirty="0" sz="2050" spc="-200">
                <a:latin typeface="Arial Black"/>
                <a:cs typeface="Arial Black"/>
              </a:rPr>
              <a:t> </a:t>
            </a:r>
            <a:r>
              <a:rPr dirty="0" sz="2050" spc="-20">
                <a:latin typeface="Arial Black"/>
                <a:cs typeface="Arial Black"/>
              </a:rPr>
              <a:t>development</a:t>
            </a:r>
            <a:endParaRPr sz="2050">
              <a:latin typeface="Arial Black"/>
              <a:cs typeface="Arial Black"/>
            </a:endParaRPr>
          </a:p>
          <a:p>
            <a:pPr algn="ctr" marR="50800">
              <a:lnSpc>
                <a:spcPct val="100000"/>
              </a:lnSpc>
              <a:spcBef>
                <a:spcPts val="395"/>
              </a:spcBef>
            </a:pPr>
            <a:r>
              <a:rPr dirty="0" sz="2050" spc="95">
                <a:latin typeface="Arial Black"/>
                <a:cs typeface="Arial Black"/>
              </a:rPr>
              <a:t>-</a:t>
            </a:r>
            <a:r>
              <a:rPr dirty="0" sz="2050" spc="-175">
                <a:latin typeface="Arial Black"/>
                <a:cs typeface="Arial Black"/>
              </a:rPr>
              <a:t> </a:t>
            </a:r>
            <a:r>
              <a:rPr dirty="0" sz="2050" spc="-140">
                <a:latin typeface="Arial Black"/>
                <a:cs typeface="Arial Black"/>
              </a:rPr>
              <a:t>Real-</a:t>
            </a:r>
            <a:r>
              <a:rPr dirty="0" sz="2050" spc="-135">
                <a:latin typeface="Arial Black"/>
                <a:cs typeface="Arial Black"/>
              </a:rPr>
              <a:t>time</a:t>
            </a:r>
            <a:r>
              <a:rPr dirty="0" sz="2050" spc="-170">
                <a:latin typeface="Arial Black"/>
                <a:cs typeface="Arial Black"/>
              </a:rPr>
              <a:t> </a:t>
            </a:r>
            <a:r>
              <a:rPr dirty="0" sz="2050" spc="-30">
                <a:latin typeface="Arial Black"/>
                <a:cs typeface="Arial Black"/>
              </a:rPr>
              <a:t>systems</a:t>
            </a:r>
            <a:endParaRPr sz="2050">
              <a:latin typeface="Arial Black"/>
              <a:cs typeface="Arial Black"/>
            </a:endParaRPr>
          </a:p>
          <a:p>
            <a:pPr algn="ctr" marL="2540">
              <a:lnSpc>
                <a:spcPct val="100000"/>
              </a:lnSpc>
              <a:spcBef>
                <a:spcPts val="390"/>
              </a:spcBef>
            </a:pPr>
            <a:r>
              <a:rPr dirty="0" sz="2050" spc="95">
                <a:latin typeface="Arial Black"/>
                <a:cs typeface="Arial Black"/>
              </a:rPr>
              <a:t>-</a:t>
            </a:r>
            <a:r>
              <a:rPr dirty="0" sz="2050" spc="-190">
                <a:latin typeface="Arial Black"/>
                <a:cs typeface="Arial Black"/>
              </a:rPr>
              <a:t> </a:t>
            </a:r>
            <a:r>
              <a:rPr dirty="0" sz="2050" spc="-70">
                <a:latin typeface="Arial Black"/>
                <a:cs typeface="Arial Black"/>
              </a:rPr>
              <a:t>Full-</a:t>
            </a:r>
            <a:r>
              <a:rPr dirty="0" sz="2050" spc="-210">
                <a:latin typeface="Arial Black"/>
                <a:cs typeface="Arial Black"/>
              </a:rPr>
              <a:t>stack</a:t>
            </a:r>
            <a:r>
              <a:rPr dirty="0" sz="2050" spc="-185">
                <a:latin typeface="Arial Black"/>
                <a:cs typeface="Arial Black"/>
              </a:rPr>
              <a:t> </a:t>
            </a:r>
            <a:r>
              <a:rPr dirty="0" sz="2050" spc="-75">
                <a:latin typeface="Arial Black"/>
                <a:cs typeface="Arial Black"/>
              </a:rPr>
              <a:t>deployment</a:t>
            </a:r>
            <a:endParaRPr sz="20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81" y="479496"/>
            <a:ext cx="9729718" cy="68357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800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400"/>
              </a:spcBef>
            </a:pPr>
            <a:r>
              <a:rPr dirty="0"/>
              <a:t>Literature</a:t>
            </a:r>
            <a:r>
              <a:rPr dirty="0" spc="90"/>
              <a:t> </a:t>
            </a:r>
            <a:r>
              <a:rPr dirty="0" spc="-10"/>
              <a:t>Review</a:t>
            </a:r>
          </a:p>
          <a:p>
            <a:pPr marL="81280">
              <a:lnSpc>
                <a:spcPct val="100000"/>
              </a:lnSpc>
              <a:spcBef>
                <a:spcPts val="160"/>
              </a:spcBef>
            </a:pPr>
            <a:r>
              <a:rPr dirty="0" sz="1850" spc="-165" b="0">
                <a:latin typeface="Arial Black"/>
                <a:cs typeface="Arial Black"/>
              </a:rPr>
              <a:t>Research</a:t>
            </a:r>
            <a:r>
              <a:rPr dirty="0" sz="1850" spc="-135" b="0">
                <a:latin typeface="Arial Black"/>
                <a:cs typeface="Arial Black"/>
              </a:rPr>
              <a:t> </a:t>
            </a:r>
            <a:r>
              <a:rPr dirty="0" sz="1850" spc="-10" b="0">
                <a:latin typeface="Arial Black"/>
                <a:cs typeface="Arial Black"/>
              </a:rPr>
              <a:t>Foundation</a:t>
            </a:r>
            <a:endParaRPr sz="185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770890">
              <a:lnSpc>
                <a:spcPct val="100000"/>
              </a:lnSpc>
              <a:spcBef>
                <a:spcPts val="140"/>
              </a:spcBef>
            </a:pPr>
            <a:r>
              <a:rPr dirty="0"/>
              <a:t>Literature</a:t>
            </a:r>
            <a:r>
              <a:rPr dirty="0" spc="90"/>
              <a:t> </a:t>
            </a:r>
            <a:r>
              <a:rPr dirty="0" spc="-10"/>
              <a:t>Review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45698" y="1147952"/>
            <a:ext cx="7658100" cy="6162675"/>
            <a:chOff x="1245698" y="1147952"/>
            <a:chExt cx="7658100" cy="61626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698" y="1147952"/>
              <a:ext cx="7658099" cy="616267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109596" y="6798449"/>
              <a:ext cx="1569085" cy="389890"/>
            </a:xfrm>
            <a:custGeom>
              <a:avLst/>
              <a:gdLst/>
              <a:ahLst/>
              <a:cxnLst/>
              <a:rect l="l" t="t" r="r" b="b"/>
              <a:pathLst>
                <a:path w="1569084" h="389890">
                  <a:moveTo>
                    <a:pt x="1568520" y="389467"/>
                  </a:moveTo>
                  <a:lnTo>
                    <a:pt x="0" y="389467"/>
                  </a:lnTo>
                  <a:lnTo>
                    <a:pt x="0" y="0"/>
                  </a:lnTo>
                  <a:lnTo>
                    <a:pt x="1568520" y="0"/>
                  </a:lnTo>
                  <a:lnTo>
                    <a:pt x="1568520" y="389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53034" y="1788717"/>
            <a:ext cx="244729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-175">
                <a:latin typeface="Arial Black"/>
                <a:cs typeface="Arial Black"/>
              </a:rPr>
              <a:t>AR</a:t>
            </a:r>
            <a:r>
              <a:rPr dirty="0" sz="1850" spc="-165">
                <a:latin typeface="Arial Black"/>
                <a:cs typeface="Arial Black"/>
              </a:rPr>
              <a:t> </a:t>
            </a:r>
            <a:r>
              <a:rPr dirty="0" sz="1850" spc="-415">
                <a:latin typeface="Arial Black"/>
                <a:cs typeface="Arial Black"/>
              </a:rPr>
              <a:t>&amp;</a:t>
            </a:r>
            <a:r>
              <a:rPr dirty="0" sz="1850" spc="-165">
                <a:latin typeface="Arial Black"/>
                <a:cs typeface="Arial Black"/>
              </a:rPr>
              <a:t> </a:t>
            </a:r>
            <a:r>
              <a:rPr dirty="0" sz="1850" spc="-140">
                <a:latin typeface="Arial Black"/>
                <a:cs typeface="Arial Black"/>
              </a:rPr>
              <a:t>Social</a:t>
            </a:r>
            <a:r>
              <a:rPr dirty="0" sz="1850" spc="-165">
                <a:latin typeface="Arial Black"/>
                <a:cs typeface="Arial Black"/>
              </a:rPr>
              <a:t> </a:t>
            </a:r>
            <a:r>
              <a:rPr dirty="0" sz="1850" spc="-130">
                <a:latin typeface="Arial Black"/>
                <a:cs typeface="Arial Black"/>
              </a:rPr>
              <a:t>Research</a:t>
            </a:r>
            <a:endParaRPr sz="185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1093"/>
            <a:ext cx="9753599" cy="70294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502284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Scope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8185367" y="6798449"/>
            <a:ext cx="1569085" cy="389890"/>
          </a:xfrm>
          <a:custGeom>
            <a:avLst/>
            <a:gdLst/>
            <a:ahLst/>
            <a:cxnLst/>
            <a:rect l="l" t="t" r="r" b="b"/>
            <a:pathLst>
              <a:path w="1569084" h="389890">
                <a:moveTo>
                  <a:pt x="1568520" y="389467"/>
                </a:moveTo>
                <a:lnTo>
                  <a:pt x="0" y="389467"/>
                </a:lnTo>
                <a:lnTo>
                  <a:pt x="0" y="0"/>
                </a:lnTo>
                <a:lnTo>
                  <a:pt x="1568520" y="0"/>
                </a:lnTo>
                <a:lnTo>
                  <a:pt x="1568520" y="389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2149" y="61595"/>
            <a:ext cx="1229360" cy="6108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Scope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0"/>
            <a:ext cx="8381999" cy="73151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7643185" y="6798449"/>
            <a:ext cx="1567815" cy="372745"/>
          </a:xfrm>
          <a:custGeom>
            <a:avLst/>
            <a:gdLst/>
            <a:ahLst/>
            <a:cxnLst/>
            <a:rect l="l" t="t" r="r" b="b"/>
            <a:pathLst>
              <a:path w="1567815" h="372745">
                <a:moveTo>
                  <a:pt x="1567543" y="372255"/>
                </a:moveTo>
                <a:lnTo>
                  <a:pt x="0" y="372255"/>
                </a:lnTo>
                <a:lnTo>
                  <a:pt x="0" y="0"/>
                </a:lnTo>
                <a:lnTo>
                  <a:pt x="1567543" y="0"/>
                </a:lnTo>
                <a:lnTo>
                  <a:pt x="1567543" y="3722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0088" rIns="0" bIns="0" rtlCol="0" vert="horz">
            <a:spAutoFit/>
          </a:bodyPr>
          <a:lstStyle/>
          <a:p>
            <a:pPr marL="54038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Feasibility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81121"/>
            <a:ext cx="9751775" cy="56483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93632" y="6920393"/>
            <a:ext cx="72390" cy="142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60"/>
              </a:lnSpc>
            </a:pPr>
            <a:r>
              <a:rPr dirty="0" sz="1100" spc="-5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185367" y="6798449"/>
            <a:ext cx="1569085" cy="389890"/>
          </a:xfrm>
          <a:custGeom>
            <a:avLst/>
            <a:gdLst/>
            <a:ahLst/>
            <a:cxnLst/>
            <a:rect l="l" t="t" r="r" b="b"/>
            <a:pathLst>
              <a:path w="1569084" h="389890">
                <a:moveTo>
                  <a:pt x="1568520" y="389467"/>
                </a:moveTo>
                <a:lnTo>
                  <a:pt x="0" y="389467"/>
                </a:lnTo>
                <a:lnTo>
                  <a:pt x="0" y="0"/>
                </a:lnTo>
                <a:lnTo>
                  <a:pt x="1568520" y="0"/>
                </a:lnTo>
                <a:lnTo>
                  <a:pt x="1568520" y="389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486469" y="1557162"/>
            <a:ext cx="3340735" cy="5041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b="1">
                <a:latin typeface="Calibri"/>
                <a:cs typeface="Calibri"/>
              </a:rPr>
              <a:t>Technical</a:t>
            </a:r>
            <a:r>
              <a:rPr dirty="0" sz="3100" spc="125" b="1">
                <a:latin typeface="Calibri"/>
                <a:cs typeface="Calibri"/>
              </a:rPr>
              <a:t> </a:t>
            </a:r>
            <a:r>
              <a:rPr dirty="0" sz="3100" spc="-10" b="1">
                <a:latin typeface="Calibri"/>
                <a:cs typeface="Calibri"/>
              </a:rPr>
              <a:t>Feasibility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953011" y="6620928"/>
            <a:ext cx="1567815" cy="372745"/>
          </a:xfrm>
          <a:custGeom>
            <a:avLst/>
            <a:gdLst/>
            <a:ahLst/>
            <a:cxnLst/>
            <a:rect l="l" t="t" r="r" b="b"/>
            <a:pathLst>
              <a:path w="1567815" h="372745">
                <a:moveTo>
                  <a:pt x="1567543" y="372255"/>
                </a:moveTo>
                <a:lnTo>
                  <a:pt x="0" y="372255"/>
                </a:lnTo>
                <a:lnTo>
                  <a:pt x="0" y="0"/>
                </a:lnTo>
                <a:lnTo>
                  <a:pt x="1567543" y="0"/>
                </a:lnTo>
                <a:lnTo>
                  <a:pt x="1567543" y="3722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0088" rIns="0" bIns="0" rtlCol="0" vert="horz">
            <a:spAutoFit/>
          </a:bodyPr>
          <a:lstStyle/>
          <a:p>
            <a:pPr marL="54038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Feasibility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94481"/>
            <a:ext cx="9753599" cy="561974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93632" y="6920393"/>
            <a:ext cx="72390" cy="142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60"/>
              </a:lnSpc>
            </a:pPr>
            <a:r>
              <a:rPr dirty="0" sz="1100" spc="-5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818175" y="6798449"/>
            <a:ext cx="1569085" cy="389890"/>
          </a:xfrm>
          <a:custGeom>
            <a:avLst/>
            <a:gdLst/>
            <a:ahLst/>
            <a:cxnLst/>
            <a:rect l="l" t="t" r="r" b="b"/>
            <a:pathLst>
              <a:path w="1569084" h="389890">
                <a:moveTo>
                  <a:pt x="1568520" y="389467"/>
                </a:moveTo>
                <a:lnTo>
                  <a:pt x="0" y="389467"/>
                </a:lnTo>
                <a:lnTo>
                  <a:pt x="0" y="0"/>
                </a:lnTo>
                <a:lnTo>
                  <a:pt x="1568520" y="0"/>
                </a:lnTo>
                <a:lnTo>
                  <a:pt x="1568520" y="389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97470" y="1679368"/>
            <a:ext cx="3428365" cy="5041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b="1">
                <a:latin typeface="Calibri"/>
                <a:cs typeface="Calibri"/>
              </a:rPr>
              <a:t>Hardware</a:t>
            </a:r>
            <a:r>
              <a:rPr dirty="0" sz="3100" spc="130" b="1">
                <a:latin typeface="Calibri"/>
                <a:cs typeface="Calibri"/>
              </a:rPr>
              <a:t> </a:t>
            </a:r>
            <a:r>
              <a:rPr dirty="0" sz="3100" spc="-10" b="1">
                <a:latin typeface="Calibri"/>
                <a:cs typeface="Calibri"/>
              </a:rPr>
              <a:t>Feasibility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1668" rIns="0" bIns="0" rtlCol="0" vert="horz">
            <a:spAutoFit/>
          </a:bodyPr>
          <a:lstStyle/>
          <a:p>
            <a:pPr marL="153035">
              <a:lnSpc>
                <a:spcPct val="100000"/>
              </a:lnSpc>
              <a:spcBef>
                <a:spcPts val="140"/>
              </a:spcBef>
            </a:pPr>
            <a:r>
              <a:rPr dirty="0"/>
              <a:t>Web</a:t>
            </a:r>
            <a:r>
              <a:rPr dirty="0" spc="15"/>
              <a:t> </a:t>
            </a:r>
            <a:r>
              <a:rPr dirty="0"/>
              <a:t>VS</a:t>
            </a:r>
            <a:r>
              <a:rPr dirty="0" spc="15"/>
              <a:t> </a:t>
            </a:r>
            <a:r>
              <a:rPr dirty="0" spc="-10"/>
              <a:t>Mobile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93632" y="6920393"/>
            <a:ext cx="72390" cy="142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60"/>
              </a:lnSpc>
            </a:pPr>
            <a:r>
              <a:rPr dirty="0" sz="1100" spc="-5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128001" y="6798449"/>
            <a:ext cx="1569085" cy="389890"/>
          </a:xfrm>
          <a:custGeom>
            <a:avLst/>
            <a:gdLst/>
            <a:ahLst/>
            <a:cxnLst/>
            <a:rect l="l" t="t" r="r" b="b"/>
            <a:pathLst>
              <a:path w="1569084" h="389890">
                <a:moveTo>
                  <a:pt x="1568520" y="389467"/>
                </a:moveTo>
                <a:lnTo>
                  <a:pt x="0" y="389467"/>
                </a:lnTo>
                <a:lnTo>
                  <a:pt x="0" y="0"/>
                </a:lnTo>
                <a:lnTo>
                  <a:pt x="1568520" y="0"/>
                </a:lnTo>
                <a:lnTo>
                  <a:pt x="1568520" y="389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28146"/>
            <a:ext cx="4765522" cy="446722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107338" y="2023178"/>
            <a:ext cx="974725" cy="610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800" spc="-25" b="1">
                <a:latin typeface="Calibri"/>
                <a:cs typeface="Calibri"/>
              </a:rPr>
              <a:t>Web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09829" y="2023178"/>
            <a:ext cx="1460500" cy="6108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800" spc="-10" b="1">
                <a:latin typeface="Calibri"/>
                <a:cs typeface="Calibri"/>
              </a:rPr>
              <a:t>Mobile</a:t>
            </a:r>
            <a:endParaRPr sz="38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7502" y="2300880"/>
            <a:ext cx="5181599" cy="4210049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4557" y="1548972"/>
            <a:ext cx="3534410" cy="119189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195705" marR="5080" indent="-1183640">
              <a:lnSpc>
                <a:spcPct val="100299"/>
              </a:lnSpc>
              <a:spcBef>
                <a:spcPts val="125"/>
              </a:spcBef>
            </a:pPr>
            <a:r>
              <a:rPr dirty="0"/>
              <a:t>Technology</a:t>
            </a:r>
            <a:r>
              <a:rPr dirty="0" spc="110"/>
              <a:t> </a:t>
            </a:r>
            <a:r>
              <a:rPr dirty="0" spc="-10"/>
              <a:t>Stack </a:t>
            </a:r>
            <a:r>
              <a:rPr dirty="0" spc="-20"/>
              <a:t>(Web)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03273"/>
            <a:ext cx="9753599" cy="4711926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128001" y="6798449"/>
            <a:ext cx="1569085" cy="389890"/>
          </a:xfrm>
          <a:custGeom>
            <a:avLst/>
            <a:gdLst/>
            <a:ahLst/>
            <a:cxnLst/>
            <a:rect l="l" t="t" r="r" b="b"/>
            <a:pathLst>
              <a:path w="1569084" h="389890">
                <a:moveTo>
                  <a:pt x="1568520" y="389467"/>
                </a:moveTo>
                <a:lnTo>
                  <a:pt x="0" y="389467"/>
                </a:lnTo>
                <a:lnTo>
                  <a:pt x="0" y="0"/>
                </a:lnTo>
                <a:lnTo>
                  <a:pt x="1568520" y="0"/>
                </a:lnTo>
                <a:lnTo>
                  <a:pt x="1568520" y="389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935" y="1409116"/>
            <a:ext cx="9020174" cy="59060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66149" y="1413561"/>
            <a:ext cx="3534410" cy="119189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12494" marR="5080" indent="-900430">
              <a:lnSpc>
                <a:spcPct val="100299"/>
              </a:lnSpc>
              <a:spcBef>
                <a:spcPts val="125"/>
              </a:spcBef>
            </a:pPr>
            <a:r>
              <a:rPr dirty="0"/>
              <a:t>Technology</a:t>
            </a:r>
            <a:r>
              <a:rPr dirty="0" spc="110"/>
              <a:t> </a:t>
            </a:r>
            <a:r>
              <a:rPr dirty="0" spc="-10"/>
              <a:t>Stack (mobile)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8128001" y="6798449"/>
            <a:ext cx="1569085" cy="389890"/>
          </a:xfrm>
          <a:custGeom>
            <a:avLst/>
            <a:gdLst/>
            <a:ahLst/>
            <a:cxnLst/>
            <a:rect l="l" t="t" r="r" b="b"/>
            <a:pathLst>
              <a:path w="1569084" h="389890">
                <a:moveTo>
                  <a:pt x="1568520" y="389467"/>
                </a:moveTo>
                <a:lnTo>
                  <a:pt x="0" y="389467"/>
                </a:lnTo>
                <a:lnTo>
                  <a:pt x="0" y="0"/>
                </a:lnTo>
                <a:lnTo>
                  <a:pt x="1568520" y="0"/>
                </a:lnTo>
                <a:lnTo>
                  <a:pt x="1568520" y="389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513" rIns="0" bIns="0" rtlCol="0" vert="horz">
            <a:spAutoFit/>
          </a:bodyPr>
          <a:lstStyle/>
          <a:p>
            <a:pPr marL="322580">
              <a:lnSpc>
                <a:spcPct val="100000"/>
              </a:lnSpc>
              <a:spcBef>
                <a:spcPts val="140"/>
              </a:spcBef>
            </a:pPr>
            <a:r>
              <a:rPr dirty="0"/>
              <a:t>Key</a:t>
            </a:r>
            <a:r>
              <a:rPr dirty="0" spc="50"/>
              <a:t> </a:t>
            </a:r>
            <a:r>
              <a:rPr dirty="0" spc="-10"/>
              <a:t>Algorithms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7675"/>
            <a:ext cx="8915399" cy="616267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128001" y="6798449"/>
            <a:ext cx="1569085" cy="389890"/>
          </a:xfrm>
          <a:custGeom>
            <a:avLst/>
            <a:gdLst/>
            <a:ahLst/>
            <a:cxnLst/>
            <a:rect l="l" t="t" r="r" b="b"/>
            <a:pathLst>
              <a:path w="1569084" h="389890">
                <a:moveTo>
                  <a:pt x="1568520" y="389467"/>
                </a:moveTo>
                <a:lnTo>
                  <a:pt x="0" y="389467"/>
                </a:lnTo>
                <a:lnTo>
                  <a:pt x="0" y="0"/>
                </a:lnTo>
                <a:lnTo>
                  <a:pt x="1568520" y="0"/>
                </a:lnTo>
                <a:lnTo>
                  <a:pt x="1568520" y="389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513" rIns="0" bIns="0" rtlCol="0" vert="horz">
            <a:spAutoFit/>
          </a:bodyPr>
          <a:lstStyle/>
          <a:p>
            <a:pPr marL="25971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Timeline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61886" y="1602633"/>
            <a:ext cx="8935085" cy="5585460"/>
            <a:chOff x="761886" y="1602633"/>
            <a:chExt cx="8935085" cy="5585460"/>
          </a:xfrm>
        </p:grpSpPr>
        <p:sp>
          <p:nvSpPr>
            <p:cNvPr id="4" name="object 4" descr=""/>
            <p:cNvSpPr/>
            <p:nvPr/>
          </p:nvSpPr>
          <p:spPr>
            <a:xfrm>
              <a:off x="8128001" y="6798449"/>
              <a:ext cx="1569085" cy="389890"/>
            </a:xfrm>
            <a:custGeom>
              <a:avLst/>
              <a:gdLst/>
              <a:ahLst/>
              <a:cxnLst/>
              <a:rect l="l" t="t" r="r" b="b"/>
              <a:pathLst>
                <a:path w="1569084" h="389890">
                  <a:moveTo>
                    <a:pt x="1568520" y="389467"/>
                  </a:moveTo>
                  <a:lnTo>
                    <a:pt x="0" y="389467"/>
                  </a:lnTo>
                  <a:lnTo>
                    <a:pt x="0" y="0"/>
                  </a:lnTo>
                  <a:lnTo>
                    <a:pt x="1568520" y="0"/>
                  </a:lnTo>
                  <a:lnTo>
                    <a:pt x="1568520" y="389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886" y="1602633"/>
              <a:ext cx="8286749" cy="5172074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513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Conclusion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714410"/>
            <a:ext cx="9753600" cy="5473700"/>
            <a:chOff x="0" y="1714410"/>
            <a:chExt cx="9753600" cy="5473700"/>
          </a:xfrm>
        </p:grpSpPr>
        <p:sp>
          <p:nvSpPr>
            <p:cNvPr id="4" name="object 4" descr=""/>
            <p:cNvSpPr/>
            <p:nvPr/>
          </p:nvSpPr>
          <p:spPr>
            <a:xfrm>
              <a:off x="8128001" y="6798449"/>
              <a:ext cx="1569085" cy="389890"/>
            </a:xfrm>
            <a:custGeom>
              <a:avLst/>
              <a:gdLst/>
              <a:ahLst/>
              <a:cxnLst/>
              <a:rect l="l" t="t" r="r" b="b"/>
              <a:pathLst>
                <a:path w="1569084" h="389890">
                  <a:moveTo>
                    <a:pt x="1568520" y="389467"/>
                  </a:moveTo>
                  <a:lnTo>
                    <a:pt x="0" y="389467"/>
                  </a:lnTo>
                  <a:lnTo>
                    <a:pt x="0" y="0"/>
                  </a:lnTo>
                  <a:lnTo>
                    <a:pt x="1568520" y="0"/>
                  </a:lnTo>
                  <a:lnTo>
                    <a:pt x="1568520" y="389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14410"/>
              <a:ext cx="9753599" cy="527684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8366464" y="6527515"/>
              <a:ext cx="1387475" cy="542290"/>
            </a:xfrm>
            <a:custGeom>
              <a:avLst/>
              <a:gdLst/>
              <a:ahLst/>
              <a:cxnLst/>
              <a:rect l="l" t="t" r="r" b="b"/>
              <a:pathLst>
                <a:path w="1387475" h="542290">
                  <a:moveTo>
                    <a:pt x="1387135" y="541867"/>
                  </a:moveTo>
                  <a:lnTo>
                    <a:pt x="0" y="541867"/>
                  </a:lnTo>
                  <a:lnTo>
                    <a:pt x="0" y="0"/>
                  </a:lnTo>
                  <a:lnTo>
                    <a:pt x="1387135" y="0"/>
                  </a:lnTo>
                  <a:lnTo>
                    <a:pt x="1387135" y="5418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51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93632" y="6920393"/>
            <a:ext cx="72390" cy="142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60"/>
              </a:lnSpc>
            </a:pPr>
            <a:r>
              <a:rPr dirty="0" sz="1100" spc="-5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128000" y="6527520"/>
            <a:ext cx="1625600" cy="660400"/>
          </a:xfrm>
          <a:custGeom>
            <a:avLst/>
            <a:gdLst/>
            <a:ahLst/>
            <a:cxnLst/>
            <a:rect l="l" t="t" r="r" b="b"/>
            <a:pathLst>
              <a:path w="1625600" h="660400">
                <a:moveTo>
                  <a:pt x="1625587" y="0"/>
                </a:moveTo>
                <a:lnTo>
                  <a:pt x="238455" y="0"/>
                </a:lnTo>
                <a:lnTo>
                  <a:pt x="238455" y="270929"/>
                </a:lnTo>
                <a:lnTo>
                  <a:pt x="0" y="270929"/>
                </a:lnTo>
                <a:lnTo>
                  <a:pt x="0" y="660400"/>
                </a:lnTo>
                <a:lnTo>
                  <a:pt x="1568513" y="660400"/>
                </a:lnTo>
                <a:lnTo>
                  <a:pt x="1568513" y="541870"/>
                </a:lnTo>
                <a:lnTo>
                  <a:pt x="1625587" y="541870"/>
                </a:lnTo>
                <a:lnTo>
                  <a:pt x="16255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159510">
              <a:lnSpc>
                <a:spcPct val="100000"/>
              </a:lnSpc>
              <a:spcBef>
                <a:spcPts val="425"/>
              </a:spcBef>
            </a:pPr>
            <a:r>
              <a:rPr dirty="0" spc="95"/>
              <a:t>Computer</a:t>
            </a:r>
            <a:r>
              <a:rPr dirty="0" spc="-10"/>
              <a:t> </a:t>
            </a:r>
            <a:r>
              <a:rPr dirty="0" spc="55"/>
              <a:t>Vision</a:t>
            </a:r>
            <a:r>
              <a:rPr dirty="0" spc="-10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Pose</a:t>
            </a:r>
            <a:r>
              <a:rPr dirty="0" spc="-10"/>
              <a:t> </a:t>
            </a:r>
            <a:r>
              <a:rPr dirty="0" spc="70"/>
              <a:t>Estimation</a:t>
            </a:r>
          </a:p>
          <a:p>
            <a:pPr marL="381000" indent="-198755">
              <a:lnSpc>
                <a:spcPct val="100000"/>
              </a:lnSpc>
              <a:spcBef>
                <a:spcPts val="330"/>
              </a:spcBef>
              <a:buAutoNum type="arabicPeriod"/>
              <a:tabLst>
                <a:tab pos="381000" algn="l"/>
              </a:tabLst>
            </a:pPr>
            <a:r>
              <a:rPr dirty="0" spc="10"/>
              <a:t>Bazarevsky</a:t>
            </a:r>
            <a:r>
              <a:rPr dirty="0" spc="45"/>
              <a:t> </a:t>
            </a:r>
            <a:r>
              <a:rPr dirty="0" spc="114"/>
              <a:t>et</a:t>
            </a:r>
            <a:r>
              <a:rPr dirty="0" spc="45"/>
              <a:t> </a:t>
            </a:r>
            <a:r>
              <a:rPr dirty="0" spc="10"/>
              <a:t>al.</a:t>
            </a:r>
            <a:r>
              <a:rPr dirty="0" spc="45"/>
              <a:t> </a:t>
            </a:r>
            <a:r>
              <a:rPr dirty="0" spc="65"/>
              <a:t>(2020)</a:t>
            </a:r>
            <a:r>
              <a:rPr dirty="0" spc="45"/>
              <a:t> </a:t>
            </a:r>
            <a:r>
              <a:rPr dirty="0" spc="70"/>
              <a:t>-</a:t>
            </a:r>
            <a:r>
              <a:rPr dirty="0" spc="45"/>
              <a:t> </a:t>
            </a:r>
            <a:r>
              <a:rPr dirty="0" spc="10"/>
              <a:t>BlazePose.</a:t>
            </a:r>
            <a:r>
              <a:rPr dirty="0" spc="45"/>
              <a:t> </a:t>
            </a:r>
            <a:r>
              <a:rPr dirty="0" spc="65"/>
              <a:t>arXiv:2006.10204</a:t>
            </a:r>
          </a:p>
          <a:p>
            <a:pPr marL="1016635" indent="-19748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1016635" algn="l"/>
              </a:tabLst>
            </a:pPr>
            <a:r>
              <a:rPr dirty="0"/>
              <a:t>Cao</a:t>
            </a:r>
            <a:r>
              <a:rPr dirty="0" spc="75"/>
              <a:t> </a:t>
            </a:r>
            <a:r>
              <a:rPr dirty="0" spc="114"/>
              <a:t>et</a:t>
            </a:r>
            <a:r>
              <a:rPr dirty="0" spc="75"/>
              <a:t> </a:t>
            </a:r>
            <a:r>
              <a:rPr dirty="0"/>
              <a:t>al.</a:t>
            </a:r>
            <a:r>
              <a:rPr dirty="0" spc="75"/>
              <a:t> </a:t>
            </a:r>
            <a:r>
              <a:rPr dirty="0"/>
              <a:t>(2019)</a:t>
            </a:r>
            <a:r>
              <a:rPr dirty="0" spc="75"/>
              <a:t> </a:t>
            </a:r>
            <a:r>
              <a:rPr dirty="0" spc="70"/>
              <a:t>-</a:t>
            </a:r>
            <a:r>
              <a:rPr dirty="0" spc="75"/>
              <a:t> </a:t>
            </a:r>
            <a:r>
              <a:rPr dirty="0"/>
              <a:t>OpenPose.</a:t>
            </a:r>
            <a:r>
              <a:rPr dirty="0" spc="75"/>
              <a:t> </a:t>
            </a:r>
            <a:r>
              <a:rPr dirty="0" spc="-50"/>
              <a:t>IEEE</a:t>
            </a:r>
            <a:r>
              <a:rPr dirty="0" spc="75"/>
              <a:t> </a:t>
            </a:r>
            <a:r>
              <a:rPr dirty="0" spc="-10"/>
              <a:t>TPAMI</a:t>
            </a:r>
          </a:p>
          <a:p>
            <a:pPr marL="536575" indent="-199390">
              <a:lnSpc>
                <a:spcPct val="100000"/>
              </a:lnSpc>
              <a:spcBef>
                <a:spcPts val="330"/>
              </a:spcBef>
              <a:buAutoNum type="arabicPeriod"/>
              <a:tabLst>
                <a:tab pos="536575" algn="l"/>
              </a:tabLst>
            </a:pPr>
            <a:r>
              <a:rPr dirty="0"/>
              <a:t>Lugaresi</a:t>
            </a:r>
            <a:r>
              <a:rPr dirty="0" spc="80"/>
              <a:t> </a:t>
            </a:r>
            <a:r>
              <a:rPr dirty="0" spc="114"/>
              <a:t>et</a:t>
            </a:r>
            <a:r>
              <a:rPr dirty="0" spc="85"/>
              <a:t> </a:t>
            </a:r>
            <a:r>
              <a:rPr dirty="0"/>
              <a:t>al.</a:t>
            </a:r>
            <a:r>
              <a:rPr dirty="0" spc="80"/>
              <a:t> </a:t>
            </a:r>
            <a:r>
              <a:rPr dirty="0"/>
              <a:t>(2019)</a:t>
            </a:r>
            <a:r>
              <a:rPr dirty="0" spc="85"/>
              <a:t> </a:t>
            </a:r>
            <a:r>
              <a:rPr dirty="0" spc="70"/>
              <a:t>-</a:t>
            </a:r>
            <a:r>
              <a:rPr dirty="0" spc="85"/>
              <a:t> </a:t>
            </a:r>
            <a:r>
              <a:rPr dirty="0" spc="50"/>
              <a:t>MediaPipe.</a:t>
            </a:r>
            <a:r>
              <a:rPr dirty="0" spc="80"/>
              <a:t> </a:t>
            </a:r>
            <a:r>
              <a:rPr dirty="0" spc="-10"/>
              <a:t>arXiv:1906.08172</a:t>
            </a:r>
          </a:p>
          <a:p>
            <a:pPr>
              <a:lnSpc>
                <a:spcPct val="100000"/>
              </a:lnSpc>
              <a:spcBef>
                <a:spcPts val="740"/>
              </a:spcBef>
              <a:buFont typeface="Arial MT"/>
              <a:buAutoNum type="arabicPeriod"/>
            </a:pPr>
          </a:p>
          <a:p>
            <a:pPr marL="2195195">
              <a:lnSpc>
                <a:spcPct val="100000"/>
              </a:lnSpc>
            </a:pPr>
            <a:r>
              <a:rPr dirty="0"/>
              <a:t>AR</a:t>
            </a:r>
            <a:r>
              <a:rPr dirty="0" spc="-60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 spc="40"/>
              <a:t>Fitness</a:t>
            </a:r>
          </a:p>
          <a:p>
            <a:pPr marL="426084" indent="-206375">
              <a:lnSpc>
                <a:spcPct val="100000"/>
              </a:lnSpc>
              <a:spcBef>
                <a:spcPts val="330"/>
              </a:spcBef>
              <a:buAutoNum type="arabicPeriod" startAt="4"/>
              <a:tabLst>
                <a:tab pos="426084" algn="l"/>
              </a:tabLst>
            </a:pPr>
            <a:r>
              <a:rPr dirty="0" spc="60"/>
              <a:t>Kim</a:t>
            </a:r>
            <a:r>
              <a:rPr dirty="0" spc="25"/>
              <a:t> </a:t>
            </a:r>
            <a:r>
              <a:rPr dirty="0" spc="114"/>
              <a:t>et</a:t>
            </a:r>
            <a:r>
              <a:rPr dirty="0" spc="30"/>
              <a:t> </a:t>
            </a:r>
            <a:r>
              <a:rPr dirty="0"/>
              <a:t>al.</a:t>
            </a:r>
            <a:r>
              <a:rPr dirty="0" spc="25"/>
              <a:t> </a:t>
            </a:r>
            <a:r>
              <a:rPr dirty="0"/>
              <a:t>(2022)</a:t>
            </a:r>
            <a:r>
              <a:rPr dirty="0" spc="30"/>
              <a:t> </a:t>
            </a:r>
            <a:r>
              <a:rPr dirty="0" spc="70"/>
              <a:t>-</a:t>
            </a:r>
            <a:r>
              <a:rPr dirty="0" spc="30"/>
              <a:t> </a:t>
            </a:r>
            <a:r>
              <a:rPr dirty="0"/>
              <a:t>AR</a:t>
            </a:r>
            <a:r>
              <a:rPr dirty="0" spc="25"/>
              <a:t> </a:t>
            </a:r>
            <a:r>
              <a:rPr dirty="0"/>
              <a:t>Training</a:t>
            </a:r>
            <a:r>
              <a:rPr dirty="0" spc="30"/>
              <a:t> </a:t>
            </a:r>
            <a:r>
              <a:rPr dirty="0" spc="60"/>
              <a:t>Effectiveness.</a:t>
            </a:r>
            <a:r>
              <a:rPr dirty="0" spc="25"/>
              <a:t> </a:t>
            </a:r>
            <a:r>
              <a:rPr dirty="0" spc="90"/>
              <a:t>Int.</a:t>
            </a:r>
            <a:r>
              <a:rPr dirty="0" spc="30"/>
              <a:t> </a:t>
            </a:r>
            <a:r>
              <a:rPr dirty="0"/>
              <a:t>J.</a:t>
            </a:r>
            <a:r>
              <a:rPr dirty="0" spc="30"/>
              <a:t> </a:t>
            </a:r>
            <a:r>
              <a:rPr dirty="0" spc="-25"/>
              <a:t>HCI</a:t>
            </a:r>
          </a:p>
          <a:p>
            <a:pPr marL="215900" indent="-202565">
              <a:lnSpc>
                <a:spcPct val="100000"/>
              </a:lnSpc>
              <a:spcBef>
                <a:spcPts val="334"/>
              </a:spcBef>
              <a:buAutoNum type="arabicPeriod" startAt="4"/>
              <a:tabLst>
                <a:tab pos="215900" algn="l"/>
              </a:tabLst>
            </a:pPr>
            <a:r>
              <a:rPr dirty="0"/>
              <a:t>Zhao</a:t>
            </a:r>
            <a:r>
              <a:rPr dirty="0" spc="20"/>
              <a:t> </a:t>
            </a:r>
            <a:r>
              <a:rPr dirty="0" spc="114"/>
              <a:t>et</a:t>
            </a:r>
            <a:r>
              <a:rPr dirty="0" spc="20"/>
              <a:t> </a:t>
            </a:r>
            <a:r>
              <a:rPr dirty="0"/>
              <a:t>al.</a:t>
            </a:r>
            <a:r>
              <a:rPr dirty="0" spc="20"/>
              <a:t> </a:t>
            </a:r>
            <a:r>
              <a:rPr dirty="0"/>
              <a:t>(2021)</a:t>
            </a:r>
            <a:r>
              <a:rPr dirty="0" spc="20"/>
              <a:t> </a:t>
            </a:r>
            <a:r>
              <a:rPr dirty="0" spc="70"/>
              <a:t>-</a:t>
            </a:r>
            <a:r>
              <a:rPr dirty="0" spc="20"/>
              <a:t> </a:t>
            </a:r>
            <a:r>
              <a:rPr dirty="0"/>
              <a:t>AI</a:t>
            </a:r>
            <a:r>
              <a:rPr dirty="0" spc="20"/>
              <a:t> </a:t>
            </a:r>
            <a:r>
              <a:rPr dirty="0" spc="65"/>
              <a:t>Form</a:t>
            </a:r>
            <a:r>
              <a:rPr dirty="0" spc="20"/>
              <a:t> </a:t>
            </a:r>
            <a:r>
              <a:rPr dirty="0" spc="75"/>
              <a:t>Correction.</a:t>
            </a:r>
            <a:r>
              <a:rPr dirty="0" spc="20"/>
              <a:t> </a:t>
            </a:r>
            <a:r>
              <a:rPr dirty="0"/>
              <a:t>J.</a:t>
            </a:r>
            <a:r>
              <a:rPr dirty="0" spc="20"/>
              <a:t> </a:t>
            </a:r>
            <a:r>
              <a:rPr dirty="0" spc="80"/>
              <a:t>Sports</a:t>
            </a:r>
            <a:r>
              <a:rPr dirty="0" spc="20"/>
              <a:t> </a:t>
            </a:r>
            <a:r>
              <a:rPr dirty="0"/>
              <a:t>Sci</a:t>
            </a:r>
            <a:r>
              <a:rPr dirty="0" spc="20"/>
              <a:t> </a:t>
            </a:r>
            <a:r>
              <a:rPr dirty="0"/>
              <a:t>&amp;</a:t>
            </a:r>
            <a:r>
              <a:rPr dirty="0" spc="20"/>
              <a:t> </a:t>
            </a:r>
            <a:r>
              <a:rPr dirty="0" spc="-20"/>
              <a:t>Tech</a:t>
            </a:r>
          </a:p>
          <a:p>
            <a:pPr>
              <a:lnSpc>
                <a:spcPct val="100000"/>
              </a:lnSpc>
              <a:spcBef>
                <a:spcPts val="735"/>
              </a:spcBef>
              <a:buFont typeface="Arial MT"/>
              <a:buAutoNum type="arabicPeriod" startAt="4"/>
            </a:pPr>
          </a:p>
          <a:p>
            <a:pPr marL="1791335">
              <a:lnSpc>
                <a:spcPct val="100000"/>
              </a:lnSpc>
            </a:pPr>
            <a:r>
              <a:rPr dirty="0"/>
              <a:t>Social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120"/>
              <a:t> </a:t>
            </a:r>
            <a:r>
              <a:rPr dirty="0" spc="70"/>
              <a:t>Gamification</a:t>
            </a:r>
          </a:p>
          <a:p>
            <a:pPr marL="824230" indent="-210185">
              <a:lnSpc>
                <a:spcPct val="100000"/>
              </a:lnSpc>
              <a:spcBef>
                <a:spcPts val="334"/>
              </a:spcBef>
              <a:buAutoNum type="arabicPeriod" startAt="6"/>
              <a:tabLst>
                <a:tab pos="824230" algn="l"/>
              </a:tabLst>
            </a:pPr>
            <a:r>
              <a:rPr dirty="0" spc="75"/>
              <a:t>Anderson</a:t>
            </a:r>
            <a:r>
              <a:rPr dirty="0" spc="95"/>
              <a:t> </a:t>
            </a:r>
            <a:r>
              <a:rPr dirty="0" spc="114"/>
              <a:t>et</a:t>
            </a:r>
            <a:r>
              <a:rPr dirty="0" spc="95"/>
              <a:t> </a:t>
            </a:r>
            <a:r>
              <a:rPr dirty="0"/>
              <a:t>al.</a:t>
            </a:r>
            <a:r>
              <a:rPr dirty="0" spc="95"/>
              <a:t> </a:t>
            </a:r>
            <a:r>
              <a:rPr dirty="0"/>
              <a:t>(2021)</a:t>
            </a:r>
            <a:r>
              <a:rPr dirty="0" spc="95"/>
              <a:t> </a:t>
            </a:r>
            <a:r>
              <a:rPr dirty="0" spc="70"/>
              <a:t>-</a:t>
            </a:r>
            <a:r>
              <a:rPr dirty="0" spc="95"/>
              <a:t> </a:t>
            </a:r>
            <a:r>
              <a:rPr dirty="0"/>
              <a:t>Social</a:t>
            </a:r>
            <a:r>
              <a:rPr dirty="0" spc="95"/>
              <a:t> </a:t>
            </a:r>
            <a:r>
              <a:rPr dirty="0"/>
              <a:t>Features.</a:t>
            </a:r>
            <a:r>
              <a:rPr dirty="0" spc="95"/>
              <a:t> </a:t>
            </a:r>
            <a:r>
              <a:rPr dirty="0" spc="-20"/>
              <a:t>JMIR</a:t>
            </a:r>
          </a:p>
          <a:p>
            <a:pPr marL="179705" indent="-167005">
              <a:lnSpc>
                <a:spcPct val="100000"/>
              </a:lnSpc>
              <a:spcBef>
                <a:spcPts val="330"/>
              </a:spcBef>
              <a:buAutoNum type="arabicPeriod" startAt="6"/>
              <a:tabLst>
                <a:tab pos="179705" algn="l"/>
              </a:tabLst>
            </a:pPr>
            <a:r>
              <a:rPr dirty="0" spc="80"/>
              <a:t>Johnson</a:t>
            </a:r>
            <a:r>
              <a:rPr dirty="0" spc="30"/>
              <a:t> </a:t>
            </a:r>
            <a:r>
              <a:rPr dirty="0" spc="114"/>
              <a:t>et</a:t>
            </a:r>
            <a:r>
              <a:rPr dirty="0" spc="30"/>
              <a:t> </a:t>
            </a:r>
            <a:r>
              <a:rPr dirty="0"/>
              <a:t>al.</a:t>
            </a:r>
            <a:r>
              <a:rPr dirty="0" spc="35"/>
              <a:t> </a:t>
            </a:r>
            <a:r>
              <a:rPr dirty="0"/>
              <a:t>(2016)</a:t>
            </a:r>
            <a:r>
              <a:rPr dirty="0" spc="30"/>
              <a:t> </a:t>
            </a:r>
            <a:r>
              <a:rPr dirty="0" spc="70"/>
              <a:t>-</a:t>
            </a:r>
            <a:r>
              <a:rPr dirty="0" spc="35"/>
              <a:t> </a:t>
            </a:r>
            <a:r>
              <a:rPr dirty="0" spc="70"/>
              <a:t>Gamification.</a:t>
            </a:r>
            <a:r>
              <a:rPr dirty="0" spc="30"/>
              <a:t> </a:t>
            </a:r>
            <a:r>
              <a:rPr dirty="0" spc="100"/>
              <a:t>Internet</a:t>
            </a:r>
            <a:r>
              <a:rPr dirty="0" spc="30"/>
              <a:t> </a:t>
            </a:r>
            <a:r>
              <a:rPr dirty="0" spc="80"/>
              <a:t>Interventions</a:t>
            </a:r>
          </a:p>
          <a:p>
            <a:pPr>
              <a:lnSpc>
                <a:spcPct val="100000"/>
              </a:lnSpc>
              <a:spcBef>
                <a:spcPts val="735"/>
              </a:spcBef>
              <a:buFont typeface="Arial MT"/>
              <a:buAutoNum type="arabicPeriod" startAt="6"/>
            </a:pPr>
          </a:p>
          <a:p>
            <a:pPr marL="1964689">
              <a:lnSpc>
                <a:spcPct val="100000"/>
              </a:lnSpc>
            </a:pPr>
            <a:r>
              <a:rPr dirty="0" spc="70"/>
              <a:t>ML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 spc="55"/>
              <a:t>Recognition</a:t>
            </a:r>
          </a:p>
          <a:p>
            <a:pPr marL="362585" indent="-206375">
              <a:lnSpc>
                <a:spcPct val="100000"/>
              </a:lnSpc>
              <a:spcBef>
                <a:spcPts val="335"/>
              </a:spcBef>
              <a:buAutoNum type="arabicPeriod" startAt="8"/>
              <a:tabLst>
                <a:tab pos="362585" algn="l"/>
              </a:tabLst>
            </a:pPr>
            <a:r>
              <a:rPr dirty="0" spc="50"/>
              <a:t>Chen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20"/>
              <a:t> </a:t>
            </a:r>
            <a:r>
              <a:rPr dirty="0"/>
              <a:t>Wang</a:t>
            </a:r>
            <a:r>
              <a:rPr dirty="0" spc="-25"/>
              <a:t> </a:t>
            </a:r>
            <a:r>
              <a:rPr dirty="0" spc="65"/>
              <a:t>(2020)</a:t>
            </a:r>
            <a:r>
              <a:rPr dirty="0" spc="-20"/>
              <a:t> </a:t>
            </a:r>
            <a:r>
              <a:rPr dirty="0" spc="70"/>
              <a:t>-</a:t>
            </a:r>
            <a:r>
              <a:rPr dirty="0" spc="-25"/>
              <a:t> </a:t>
            </a:r>
            <a:r>
              <a:rPr dirty="0" spc="110"/>
              <a:t>Activity</a:t>
            </a:r>
            <a:r>
              <a:rPr dirty="0" spc="-20"/>
              <a:t> </a:t>
            </a:r>
            <a:r>
              <a:rPr dirty="0" spc="60"/>
              <a:t>Recognition.</a:t>
            </a:r>
            <a:r>
              <a:rPr dirty="0" spc="-25"/>
              <a:t> </a:t>
            </a:r>
            <a:r>
              <a:rPr dirty="0" spc="-50"/>
              <a:t>IEEE</a:t>
            </a:r>
            <a:r>
              <a:rPr dirty="0" spc="-20"/>
              <a:t> </a:t>
            </a:r>
            <a:r>
              <a:rPr dirty="0" spc="-10"/>
              <a:t>Access</a:t>
            </a:r>
          </a:p>
          <a:p>
            <a:pPr marL="692785" indent="-205740">
              <a:lnSpc>
                <a:spcPct val="100000"/>
              </a:lnSpc>
              <a:spcBef>
                <a:spcPts val="330"/>
              </a:spcBef>
              <a:buAutoNum type="arabicPeriod" startAt="8"/>
              <a:tabLst>
                <a:tab pos="692785" algn="l"/>
              </a:tabLst>
            </a:pPr>
            <a:r>
              <a:rPr dirty="0" spc="55"/>
              <a:t>Velloso</a:t>
            </a:r>
            <a:r>
              <a:rPr dirty="0" spc="40"/>
              <a:t> </a:t>
            </a:r>
            <a:r>
              <a:rPr dirty="0" spc="114"/>
              <a:t>et</a:t>
            </a:r>
            <a:r>
              <a:rPr dirty="0" spc="45"/>
              <a:t> </a:t>
            </a:r>
            <a:r>
              <a:rPr dirty="0"/>
              <a:t>al.</a:t>
            </a:r>
            <a:r>
              <a:rPr dirty="0" spc="45"/>
              <a:t> </a:t>
            </a:r>
            <a:r>
              <a:rPr dirty="0"/>
              <a:t>(2013)</a:t>
            </a:r>
            <a:r>
              <a:rPr dirty="0" spc="45"/>
              <a:t> </a:t>
            </a:r>
            <a:r>
              <a:rPr dirty="0" spc="70"/>
              <a:t>-</a:t>
            </a:r>
            <a:r>
              <a:rPr dirty="0" spc="45"/>
              <a:t> </a:t>
            </a:r>
            <a:r>
              <a:rPr dirty="0"/>
              <a:t>Exercise</a:t>
            </a:r>
            <a:r>
              <a:rPr dirty="0" spc="45"/>
              <a:t> </a:t>
            </a:r>
            <a:r>
              <a:rPr dirty="0" spc="60"/>
              <a:t>Recognition.</a:t>
            </a:r>
            <a:r>
              <a:rPr dirty="0" spc="45"/>
              <a:t> </a:t>
            </a:r>
            <a:r>
              <a:rPr dirty="0" spc="-25"/>
              <a:t>ACM</a:t>
            </a:r>
          </a:p>
          <a:p>
            <a:pPr marL="419734" indent="-313690">
              <a:lnSpc>
                <a:spcPct val="100000"/>
              </a:lnSpc>
              <a:spcBef>
                <a:spcPts val="335"/>
              </a:spcBef>
              <a:buAutoNum type="arabicPeriod" startAt="8"/>
              <a:tabLst>
                <a:tab pos="419734" algn="l"/>
              </a:tabLst>
            </a:pPr>
            <a:r>
              <a:rPr dirty="0" spc="70"/>
              <a:t>American</a:t>
            </a:r>
            <a:r>
              <a:rPr dirty="0" spc="15"/>
              <a:t> </a:t>
            </a:r>
            <a:r>
              <a:rPr dirty="0" spc="70"/>
              <a:t>Council</a:t>
            </a:r>
            <a:r>
              <a:rPr dirty="0" spc="30"/>
              <a:t> </a:t>
            </a:r>
            <a:r>
              <a:rPr dirty="0" spc="95"/>
              <a:t>on</a:t>
            </a:r>
            <a:r>
              <a:rPr dirty="0" spc="30"/>
              <a:t> </a:t>
            </a:r>
            <a:r>
              <a:rPr dirty="0"/>
              <a:t>Exercise</a:t>
            </a:r>
            <a:r>
              <a:rPr dirty="0" spc="30"/>
              <a:t> </a:t>
            </a:r>
            <a:r>
              <a:rPr dirty="0"/>
              <a:t>(2022)</a:t>
            </a:r>
            <a:r>
              <a:rPr dirty="0" spc="30"/>
              <a:t> </a:t>
            </a:r>
            <a:r>
              <a:rPr dirty="0" spc="70"/>
              <a:t>-</a:t>
            </a:r>
            <a:r>
              <a:rPr dirty="0" spc="30"/>
              <a:t> </a:t>
            </a:r>
            <a:r>
              <a:rPr dirty="0" spc="50"/>
              <a:t>Fitness</a:t>
            </a:r>
            <a:r>
              <a:rPr dirty="0" spc="30"/>
              <a:t> </a:t>
            </a:r>
            <a:r>
              <a:rPr dirty="0" spc="70"/>
              <a:t>Statistics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35"/>
              </a:lnSpc>
            </a:pPr>
            <a:r>
              <a:rPr dirty="0"/>
              <a:t>Computer</a:t>
            </a:r>
            <a:r>
              <a:rPr dirty="0" spc="30"/>
              <a:t> </a:t>
            </a:r>
            <a:r>
              <a:rPr dirty="0"/>
              <a:t>Engineering</a:t>
            </a:r>
            <a:r>
              <a:rPr dirty="0" spc="35"/>
              <a:t> </a:t>
            </a:r>
            <a:r>
              <a:rPr dirty="0"/>
              <a:t>Dept.</a:t>
            </a:r>
            <a:r>
              <a:rPr dirty="0" spc="35"/>
              <a:t> </a:t>
            </a:r>
            <a:r>
              <a:rPr dirty="0"/>
              <a:t>MPSTME,</a:t>
            </a:r>
            <a:r>
              <a:rPr dirty="0" spc="35"/>
              <a:t> </a:t>
            </a:r>
            <a:r>
              <a:rPr dirty="0" spc="-10"/>
              <a:t>Mumbai</a:t>
            </a:r>
          </a:p>
          <a:p>
            <a:pPr algn="ctr" marR="24130">
              <a:lnSpc>
                <a:spcPts val="1295"/>
              </a:lnSpc>
            </a:pPr>
            <a:r>
              <a:rPr dirty="0" spc="-10"/>
              <a:t>Campus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pratik lakhani</dc:creator>
  <cp:keywords>DAG_EWw_uyA,BAFYpNYzuMo,0</cp:keywords>
  <dc:title>Technical_project_title.pptx</dc:title>
  <dcterms:created xsi:type="dcterms:W3CDTF">2026-01-22T18:00:14Z</dcterms:created>
  <dcterms:modified xsi:type="dcterms:W3CDTF">2026-01-22T18:00:14Z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2026-01-22T00:00:00Z</vt:filetime>
  </property>
  <property fmtid="{D5CDD505-2E9C-101B-9397-08002B2CF9AE}" pid="3" name="Creator">
    <vt:lpwstr>Canva</vt:lpwstr>
  </property>
  <property fmtid="{D5CDD505-2E9C-101B-9397-08002B2CF9AE}" pid="4" name="LastSaved">
    <vt:filetime>2026-01-22T00:00:00Z</vt:filetime>
  </property>
  <property fmtid="{D5CDD505-2E9C-101B-9397-08002B2CF9AE}" pid="5" name="Producer">
    <vt:lpwstr>Canva</vt:lpwstr>
  </property>
</Properties>
</file>